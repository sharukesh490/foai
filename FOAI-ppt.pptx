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B081BFA-5399-5B00-B1D8-F1BD34F1EFD3}">
          <p14:sldIdLst>
            <p14:sldId id="256"/>
          </p14:sldIdLst>
        </p14:section>
        <p14:section name="Problem" id="{9467D831-32FD-436C-2B78-92786B6472D5}">
          <p14:sldIdLst>
            <p14:sldId id="257"/>
          </p14:sldIdLst>
        </p14:section>
        <p14:section name="Method" id="{DD76CF1F-83D9-A92C-68D0-9646AE1EEE20}">
          <p14:sldIdLst>
            <p14:sldId id="258"/>
            <p14:sldId id="259"/>
            <p14:sldId id="260"/>
          </p14:sldIdLst>
        </p14:section>
        <p14:section name="Outcome" id="{4FACB03B-8100-CB85-0831-9E96E75BB90A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-35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21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A21"/>
                </a:solidFill>
                <a:latin typeface="+mn-lt"/>
              </a:rPr>
              <a:t>Tomato example: f(n) per candidate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f(n)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9DB5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5A5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400" b="0" i="0" u="none" strike="noStrike">
                    <a:solidFill>
                      <a:srgbClr val="1B2A2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Early Blight</c:v>
                </c:pt>
                <c:pt idx="1">
                  <c:v>Leaf Spot</c:v>
                </c:pt>
                <c:pt idx="2">
                  <c:v>Late Blight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31375104"/>
        <c:axId val="131376640"/>
      </c:barChart>
      <c:catAx>
        <c:axId val="131375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21"/>
                </a:solidFill>
                <a:latin typeface="+mn-lt"/>
              </a:defRPr>
            </a:pPr>
            <a:endParaRPr lang="en-US"/>
          </a:p>
        </c:txPr>
        <c:crossAx val="131376640"/>
        <c:crosses val="autoZero"/>
        <c:auto val="1"/>
        <c:lblAlgn val="ctr"/>
        <c:lblOffset val="100"/>
        <c:noMultiLvlLbl val="1"/>
      </c:catAx>
      <c:valAx>
        <c:axId val="131376640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DD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5A"/>
                </a:solidFill>
                <a:latin typeface="+mn-lt"/>
              </a:defRPr>
            </a:pPr>
            <a:endParaRPr lang="en-US"/>
          </a:p>
        </c:txPr>
        <c:crossAx val="1313751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E903F-B4AF-4FBE-9DCB-5367378DFBE8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7D322-514E-4A11-92A6-85EA8E7F2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72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crop disease diagnosis system that works from symptoms and uses A* search, built only from Units I–III of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 points motivate the work. The objective is a rule-based, explainable alternative to ML that fits our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finds a path but cannot rank. A* with a mismatch-count heuristic gives a ranked list and confidence, which is why it is the better Unit II choice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production system holds the disease rules; A* turns them into a ranked list; the recommendation step reads from the treatment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Blight has all three symptoms so h = 0 and f = 1. Leaf Spot misses dark edges so f = 2. Late Blight shares only dark edges so f 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deliverables share the same knowledge base and heuristic, so results match between the script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claim: classical search is enough for an explainable diagnosis. Future work can use Unit III CSP pruning and dynamic questioning.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443484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Crop disease detection · A* search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731520" y="173736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AI-Powered Crop Disease Detection and Treatment Recommendation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731520" y="4434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Symptom-based diagnosis using A* search over a production-system knowledge base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565483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00"/>
                </a:solidFill>
              </a:rPr>
              <a:t>Sharukesh</a:t>
            </a:r>
            <a:r>
              <a:rPr lang="en-US" sz="2800" b="1" dirty="0">
                <a:solidFill>
                  <a:srgbClr val="FFFF00"/>
                </a:solidFill>
              </a:rPr>
              <a:t> </a:t>
            </a:r>
            <a:r>
              <a:rPr lang="en-US" sz="2800" b="1" dirty="0" smtClean="0">
                <a:solidFill>
                  <a:srgbClr val="FFFF00"/>
                </a:solidFill>
              </a:rPr>
              <a:t>D – 240701490</a:t>
            </a:r>
          </a:p>
        </p:txBody>
      </p:sp>
      <p:sp>
        <p:nvSpPr>
          <p:cNvPr id="5" name="Outer ring"/>
          <p:cNvSpPr/>
          <p:nvPr/>
        </p:nvSpPr>
        <p:spPr>
          <a:xfrm>
            <a:off x="7863840" y="1097280"/>
            <a:ext cx="4206240" cy="420624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6" name="Inner disc"/>
          <p:cNvSpPr/>
          <p:nvPr/>
        </p:nvSpPr>
        <p:spPr>
          <a:xfrm>
            <a:off x="8503920" y="1737360"/>
            <a:ext cx="2926080" cy="2926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Leaf icon" descr="Lea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65176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0309" y="5943599"/>
            <a:ext cx="4099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FFFF00"/>
                </a:solidFill>
              </a:rPr>
              <a:t>Sadhok</a:t>
            </a:r>
            <a:r>
              <a:rPr lang="en-US" sz="2800" b="1" dirty="0" smtClean="0">
                <a:solidFill>
                  <a:srgbClr val="FFFF00"/>
                </a:solidFill>
              </a:rPr>
              <a:t>  S - 240701450</a:t>
            </a:r>
            <a:endParaRPr lang="en-IN" sz="28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problem we are solving</a:t>
            </a:r>
            <a:endParaRPr lang="en-US" sz="3600" dirty="0"/>
          </a:p>
        </p:txBody>
      </p:sp>
      <p:sp>
        <p:nvSpPr>
          <p:cNvPr id="3" name="Late or wrong diagnosis circle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Late or wrong diagnosis" descr="Late or wrong diagno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893722"/>
            <a:ext cx="373075" cy="3730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600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Late or wrong diagnosis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Farmers often recognise a disease only after it has spread, which delays treatment.</a:t>
            </a:r>
            <a:endParaRPr lang="en-US" sz="1500" dirty="0"/>
          </a:p>
        </p:txBody>
      </p:sp>
      <p:sp>
        <p:nvSpPr>
          <p:cNvPr id="7" name="Limited expert access circle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Limited expert access" descr="Limited expert ac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3448202"/>
            <a:ext cx="373075" cy="373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154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Limited expert access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611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Agronomists are scarce in rural areas, so advice arrives slowly or not at all.</a:t>
            </a:r>
            <a:endParaRPr lang="en-US" sz="1500" dirty="0"/>
          </a:p>
        </p:txBody>
      </p:sp>
      <p:sp>
        <p:nvSpPr>
          <p:cNvPr id="11" name="ML needs data we may not have circle"/>
          <p:cNvSpPr/>
          <p:nvPr/>
        </p:nvSpPr>
        <p:spPr>
          <a:xfrm>
            <a:off x="548640" y="48006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ML needs data we may not have" descr="ML needs data we may not ha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5002682"/>
            <a:ext cx="373075" cy="373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709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ML needs data we may not have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5166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Deep-learning detectors need large labelled image sets and heavy compute.</a:t>
            </a:r>
            <a:endParaRPr lang="en-US" sz="1500" dirty="0"/>
          </a:p>
        </p:txBody>
      </p:sp>
      <p:sp>
        <p:nvSpPr>
          <p:cNvPr id="15" name="Objective card"/>
          <p:cNvSpPr/>
          <p:nvPr/>
        </p:nvSpPr>
        <p:spPr>
          <a:xfrm>
            <a:off x="7589520" y="1600200"/>
            <a:ext cx="4050792" cy="4526280"/>
          </a:xfrm>
          <a:prstGeom prst="roundRect">
            <a:avLst>
              <a:gd name="adj" fmla="val 3386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eedling circle"/>
          <p:cNvSpPr/>
          <p:nvPr/>
        </p:nvSpPr>
        <p:spPr>
          <a:xfrm>
            <a:off x="7955280" y="1920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Seedling" descr="Seedl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475" y="211043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9552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955280" y="329184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Build a lightweight, explainable system that ranks likely diseases from observed symptoms and recommends treatment and prevention — using classical AI search only, with no training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A* instead of plain BFS</a:t>
            </a:r>
            <a:endParaRPr lang="en-US" sz="3600" dirty="0"/>
          </a:p>
        </p:txBody>
      </p:sp>
      <p:sp>
        <p:nvSpPr>
          <p:cNvPr id="3" name="Plain BFS card"/>
          <p:cNvSpPr/>
          <p:nvPr/>
        </p:nvSpPr>
        <p:spPr>
          <a:xfrm>
            <a:off x="548640" y="1554480"/>
            <a:ext cx="5394960" cy="3611880"/>
          </a:xfrm>
          <a:prstGeom prst="roundRect">
            <a:avLst>
              <a:gd name="adj" fmla="val 3797"/>
            </a:avLst>
          </a:prstGeom>
          <a:solidFill>
            <a:schemeClr val="bg2"/>
          </a:solidFill>
          <a:ln/>
        </p:spPr>
      </p:sp>
      <p:sp>
        <p:nvSpPr>
          <p:cNvPr id="4" name="Plain BFS circle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Plain BFS" descr="Plain BF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995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Plain BFS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74320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Returns the first disease sharing any symptom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ranking when symptoms overlap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confidence score and no alternatives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Treats every match as equally good</a:t>
            </a:r>
            <a:endParaRPr lang="en-US" sz="1600" dirty="0"/>
          </a:p>
        </p:txBody>
      </p:sp>
      <p:sp>
        <p:nvSpPr>
          <p:cNvPr id="8" name="A* search (chosen) card"/>
          <p:cNvSpPr/>
          <p:nvPr/>
        </p:nvSpPr>
        <p:spPr>
          <a:xfrm>
            <a:off x="6245352" y="1554480"/>
            <a:ext cx="5394960" cy="3611880"/>
          </a:xfrm>
          <a:prstGeom prst="roundRect">
            <a:avLst>
              <a:gd name="adj" fmla="val 3797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* search (chosen) circle"/>
          <p:cNvSpPr/>
          <p:nvPr/>
        </p:nvSpPr>
        <p:spPr>
          <a:xfrm>
            <a:off x="6611112" y="18288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A* search (chosen)" descr="A* search (chos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533" y="19952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2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A* search (chosen)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656832" y="274320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Scores every candidate with f(n) = g(n) + h(n)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Heuristic counts mismatched symptoms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Outputs ranked diagnoses with confidence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Explainable — every step can be traced</a:t>
            </a:r>
            <a:endParaRPr lang="en-US" sz="1600" dirty="0"/>
          </a:p>
        </p:txBody>
      </p:sp>
      <p:sp>
        <p:nvSpPr>
          <p:cNvPr id="13" name="Chip Unit I · Production system"/>
          <p:cNvSpPr/>
          <p:nvPr/>
        </p:nvSpPr>
        <p:spPr>
          <a:xfrm>
            <a:off x="548640" y="5440680"/>
            <a:ext cx="356616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Unit I · Production system</a:t>
            </a:r>
            <a:endParaRPr lang="en-US" sz="1500" dirty="0"/>
          </a:p>
        </p:txBody>
      </p:sp>
      <p:sp>
        <p:nvSpPr>
          <p:cNvPr id="15" name="Chip Unit II · A* search"/>
          <p:cNvSpPr/>
          <p:nvPr/>
        </p:nvSpPr>
        <p:spPr>
          <a:xfrm>
            <a:off x="4297680" y="5440680"/>
            <a:ext cx="356616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29768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Unit II · A* search</a:t>
            </a:r>
            <a:endParaRPr lang="en-US" sz="1500" dirty="0"/>
          </a:p>
        </p:txBody>
      </p:sp>
      <p:sp>
        <p:nvSpPr>
          <p:cNvPr id="17" name="Chip No ML · No dataset needed"/>
          <p:cNvSpPr/>
          <p:nvPr/>
        </p:nvSpPr>
        <p:spPr>
          <a:xfrm>
            <a:off x="8046720" y="5440680"/>
            <a:ext cx="3593592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046720" y="544068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 ML · No dataset needed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workflow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2057400" cy="32918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Crop and symptoms circle"/>
          <p:cNvSpPr/>
          <p:nvPr/>
        </p:nvSpPr>
        <p:spPr>
          <a:xfrm>
            <a:off x="73152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rop and symptoms" descr="Crop and sympto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20647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Crop and symptoms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picks a crop and ticks the symptoms observed.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788920" y="1645920"/>
            <a:ext cx="2057400" cy="32918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Production rules circle"/>
          <p:cNvSpPr/>
          <p:nvPr/>
        </p:nvSpPr>
        <p:spPr>
          <a:xfrm>
            <a:off x="297180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roduction rules" descr="Production ru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995" y="20647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4"/>
                </a:solidFill>
              </a:rPr>
              <a:t>2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Production rules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5661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 symptoms THEN disease — the knowledge base for that crop.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5029200" y="1645920"/>
            <a:ext cx="2057400" cy="32918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A* ranking circle"/>
          <p:cNvSpPr/>
          <p:nvPr/>
        </p:nvSpPr>
        <p:spPr>
          <a:xfrm>
            <a:off x="52120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A* ranking" descr="A* rank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2275" y="20647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4"/>
                </a:solidFill>
              </a:rPr>
              <a:t>3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A* ranking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5661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candidate is scored with f(n) = g(n) + h(n).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7269480" y="1645920"/>
            <a:ext cx="2057400" cy="32918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2" name="Diagnosis circle"/>
          <p:cNvSpPr/>
          <p:nvPr/>
        </p:nvSpPr>
        <p:spPr>
          <a:xfrm>
            <a:off x="745236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Diagnosis" descr="Diagnosi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555" y="20647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86800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4"/>
                </a:solidFill>
              </a:rPr>
              <a:t>4</a:t>
            </a:r>
            <a:endParaRPr lang="en-US" sz="3200" dirty="0"/>
          </a:p>
        </p:txBody>
      </p:sp>
      <p:sp>
        <p:nvSpPr>
          <p:cNvPr id="25" name="Text 19"/>
          <p:cNvSpPr txBox="1"/>
          <p:nvPr/>
        </p:nvSpPr>
        <p:spPr>
          <a:xfrm>
            <a:off x="745236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Diagnosis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35661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match shown with confidence and severity.</a:t>
            </a:r>
            <a:endParaRPr lang="en-US" sz="1400" dirty="0"/>
          </a:p>
        </p:txBody>
      </p:sp>
      <p:sp>
        <p:nvSpPr>
          <p:cNvPr id="27" name="Step card 5"/>
          <p:cNvSpPr/>
          <p:nvPr/>
        </p:nvSpPr>
        <p:spPr>
          <a:xfrm>
            <a:off x="9509760" y="1645920"/>
            <a:ext cx="2057400" cy="329184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8" name="Recommendation circle"/>
          <p:cNvSpPr/>
          <p:nvPr/>
        </p:nvSpPr>
        <p:spPr>
          <a:xfrm>
            <a:off x="969264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Recommendation" descr="Recommend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2835" y="2064715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927080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4"/>
                </a:solidFill>
              </a:rPr>
              <a:t>5</a:t>
            </a:r>
            <a:endParaRPr lang="en-US" sz="3200" dirty="0"/>
          </a:p>
        </p:txBody>
      </p:sp>
      <p:sp>
        <p:nvSpPr>
          <p:cNvPr id="31" name="Text 24"/>
          <p:cNvSpPr txBox="1"/>
          <p:nvPr/>
        </p:nvSpPr>
        <p:spPr>
          <a:xfrm>
            <a:off x="96926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692640" y="35661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Treatment and prevention steps, plus alternatives.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A* ranks the diseases</a:t>
            </a:r>
            <a:endParaRPr lang="en-US" sz="36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554480"/>
            <a:ext cx="51206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g(n)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3063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Steps from the root (crop) to the candidate disease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4069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Mismatched symptoms between the disease and the observed set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5074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Lowest value is the closest match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035040" y="1554480"/>
          <a:ext cx="55778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035040" y="5532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Input: yellow leaves, brown spots, dark edges → Early Blight (h = 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we built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crops covered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disease profiles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training images needed</a:t>
            </a:r>
            <a:endParaRPr lang="en-US" sz="1600" dirty="0"/>
          </a:p>
        </p:txBody>
      </p:sp>
      <p:sp>
        <p:nvSpPr>
          <p:cNvPr id="9" name="Python script card"/>
          <p:cNvSpPr/>
          <p:nvPr/>
        </p:nvSpPr>
        <p:spPr>
          <a:xfrm>
            <a:off x="548640" y="3108960"/>
            <a:ext cx="5440680" cy="3063240"/>
          </a:xfrm>
          <a:prstGeom prst="roundRect">
            <a:avLst>
              <a:gd name="adj" fmla="val 4478"/>
            </a:avLst>
          </a:prstGeom>
          <a:solidFill>
            <a:schemeClr val="bg2"/>
          </a:solidFill>
          <a:ln/>
        </p:spPr>
      </p:sp>
      <p:sp>
        <p:nvSpPr>
          <p:cNvPr id="10" name="Python script circle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ython script" descr="Python scr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354970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37360" y="3383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Python script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25196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A* with a priority queue (heapq)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Prints the step-by-step search trace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Confidence score for every candidate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Plain-BFS baseline for comparison</a:t>
            </a:r>
            <a:endParaRPr lang="en-US" sz="1500" dirty="0"/>
          </a:p>
        </p:txBody>
      </p:sp>
      <p:sp>
        <p:nvSpPr>
          <p:cNvPr id="14" name="Web app card"/>
          <p:cNvSpPr/>
          <p:nvPr/>
        </p:nvSpPr>
        <p:spPr>
          <a:xfrm>
            <a:off x="6199632" y="3108960"/>
            <a:ext cx="5440680" cy="3063240"/>
          </a:xfrm>
          <a:prstGeom prst="roundRect">
            <a:avLst>
              <a:gd name="adj" fmla="val 4478"/>
            </a:avLst>
          </a:prstGeom>
          <a:solidFill>
            <a:schemeClr val="bg2"/>
          </a:solidFill>
          <a:ln/>
        </p:spPr>
      </p:sp>
      <p:sp>
        <p:nvSpPr>
          <p:cNvPr id="15" name="Web app circle"/>
          <p:cNvSpPr/>
          <p:nvPr/>
        </p:nvSpPr>
        <p:spPr>
          <a:xfrm>
            <a:off x="6565392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Web app" descr="Web ap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35497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88352" y="3383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Web app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6611112" y="4251960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Crop cards grouped into vegetables and grains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Symptom chips with a live filter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Diagnosis with severity, treatment, prevention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Ranked alternative matches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future scope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A* turns a symptom checklist into a ranked, explainable diagnosis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Production rules keep the knowledge base transparent and easy to extend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Built entirely from Unit I–II concepts — no machine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6" name="CSP-based pruning of candidate diseases (Unit III) circle"/>
          <p:cNvSpPr/>
          <p:nvPr/>
        </p:nvSpPr>
        <p:spPr>
          <a:xfrm>
            <a:off x="6309360" y="21031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SP-based pruning of candidate diseases (Unit III)" descr="CSP-based pruning of candidate diseases (Unit II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894" y="22576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0" y="2103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CSP-based pruning of candidate diseases (Unit III)</a:t>
            </a:r>
            <a:endParaRPr lang="en-US" sz="1600" dirty="0"/>
          </a:p>
        </p:txBody>
      </p:sp>
      <p:sp>
        <p:nvSpPr>
          <p:cNvPr id="9" name="Dynamic questioning: ask the most useful next symptom circle"/>
          <p:cNvSpPr/>
          <p:nvPr/>
        </p:nvSpPr>
        <p:spPr>
          <a:xfrm>
            <a:off x="6309360" y="3017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ynamic questioning: ask the most useful next symptom" descr="Dynamic questioning: ask the most useful next sympt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894" y="31720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3017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Dynamic questioning: ask the most useful next symptom</a:t>
            </a:r>
            <a:endParaRPr lang="en-US" sz="1600" dirty="0"/>
          </a:p>
        </p:txBody>
      </p:sp>
      <p:sp>
        <p:nvSpPr>
          <p:cNvPr id="12" name="Humidity and temperature rules for early-warning alerts circle"/>
          <p:cNvSpPr/>
          <p:nvPr/>
        </p:nvSpPr>
        <p:spPr>
          <a:xfrm>
            <a:off x="630936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Humidity and temperature rules for early-warning alerts" descr="Humidity and temperature rules for early-warning aler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894" y="40864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32320" y="3931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Humidity and temperature rules for early-warning alerts</a:t>
            </a:r>
            <a:endParaRPr lang="en-US" sz="1600" dirty="0"/>
          </a:p>
        </p:txBody>
      </p:sp>
      <p:sp>
        <p:nvSpPr>
          <p:cNvPr id="15" name="Photo-assisted symptom entry circle"/>
          <p:cNvSpPr/>
          <p:nvPr/>
        </p:nvSpPr>
        <p:spPr>
          <a:xfrm>
            <a:off x="6309360" y="4846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hoto-assisted symptom entry" descr="Photo-assisted symptom ent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894" y="500085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32320" y="48463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Photo-assisted symptom entry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 Diagnosis">
  <a:themeElements>
    <a:clrScheme name="Crop Diagnosis">
      <a:dk1>
        <a:srgbClr val="1B2A21"/>
      </a:dk1>
      <a:lt1>
        <a:srgbClr val="FFFFFF"/>
      </a:lt1>
      <a:dk2>
        <a:srgbClr val="1F4D36"/>
      </a:dk2>
      <a:lt2>
        <a:srgbClr val="EDF3EC"/>
      </a:lt2>
      <a:accent1>
        <a:srgbClr val="2E7D4F"/>
      </a:accent1>
      <a:accent2>
        <a:srgbClr val="E2A63B"/>
      </a:accent2>
      <a:accent3>
        <a:srgbClr val="B5532B"/>
      </a:accent3>
      <a:accent4>
        <a:srgbClr val="6FA37A"/>
      </a:accent4>
      <a:accent5>
        <a:srgbClr val="4A6B5A"/>
      </a:accent5>
      <a:accent6>
        <a:srgbClr val="8C9A7E"/>
      </a:accent6>
      <a:hlink>
        <a:srgbClr val="2E7D4F"/>
      </a:hlink>
      <a:folHlink>
        <a:srgbClr val="4A6B5A"/>
      </a:folHlink>
    </a:clrScheme>
    <a:fontScheme name="Crop Diagno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691</Words>
  <Application>Microsoft Office PowerPoint</Application>
  <PresentationFormat>Custom</PresentationFormat>
  <Paragraphs>101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Crop Diagnosis</vt:lpstr>
      <vt:lpstr>AI-Powered Crop Disease Detection and Treatment Recommendation</vt:lpstr>
      <vt:lpstr>The problem we are solving</vt:lpstr>
      <vt:lpstr>Why A* instead of plain BFS</vt:lpstr>
      <vt:lpstr>System workflow</vt:lpstr>
      <vt:lpstr>How A* ranks the diseases</vt:lpstr>
      <vt:lpstr>What we built</vt:lpstr>
      <vt:lpstr>Conclusion and future scope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Crop Disease Detection and Treatment Recommendation</dc:title>
  <dc:subject>PptxGenJS Presentation</dc:subject>
  <dc:creator>PptxGenJS</dc:creator>
  <cp:lastModifiedBy>Tcs</cp:lastModifiedBy>
  <cp:revision>2</cp:revision>
  <dcterms:created xsi:type="dcterms:W3CDTF">2026-10-12T04:59:50Z</dcterms:created>
  <dcterms:modified xsi:type="dcterms:W3CDTF">2026-10-12T05:08:31Z</dcterms:modified>
</cp:coreProperties>
</file>